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9"/>
  </p:notesMasterIdLst>
  <p:sldIdLst>
    <p:sldId id="286" r:id="rId2"/>
    <p:sldId id="257" r:id="rId3"/>
    <p:sldId id="258" r:id="rId4"/>
    <p:sldId id="281" r:id="rId5"/>
    <p:sldId id="282" r:id="rId6"/>
    <p:sldId id="280" r:id="rId7"/>
    <p:sldId id="260" r:id="rId8"/>
    <p:sldId id="261" r:id="rId9"/>
    <p:sldId id="263" r:id="rId10"/>
    <p:sldId id="264" r:id="rId11"/>
    <p:sldId id="283" r:id="rId12"/>
    <p:sldId id="284" r:id="rId13"/>
    <p:sldId id="267" r:id="rId14"/>
    <p:sldId id="268" r:id="rId15"/>
    <p:sldId id="269" r:id="rId16"/>
    <p:sldId id="270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7A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5537" autoAdjust="0"/>
  </p:normalViewPr>
  <p:slideViewPr>
    <p:cSldViewPr snapToGrid="0" snapToObjects="1">
      <p:cViewPr varScale="1">
        <p:scale>
          <a:sx n="125" d="100"/>
          <a:sy n="125" d="100"/>
        </p:scale>
        <p:origin x="5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913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striatum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 key brain structure that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reward and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updates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reward prediction.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VTA is </a:t>
            </a:r>
            <a:r>
              <a:rPr lang="en-US" b="1" dirty="0"/>
              <a:t>the dopamine production hub </a:t>
            </a:r>
            <a:r>
              <a:rPr lang="en-US" dirty="0"/>
              <a:t>of the brain.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463040"/>
            <a:ext cx="8503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Reinforcement Learning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20040" y="283464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Tabular Q-Learning to Deep RL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Sutton &amp; Barto  ·  Trial and Error  ·  Q-Learning  ·  DQN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889397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Roadmap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9220" y="914400"/>
            <a:ext cx="1554480" cy="3474720"/>
          </a:xfrm>
          <a:prstGeom prst="rect">
            <a:avLst/>
          </a:prstGeom>
          <a:solidFill>
            <a:srgbClr val="EDF6F9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79220" y="914400"/>
            <a:ext cx="1554480" cy="45720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9220" y="960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52372" y="14630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organisms learn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52372" y="2011680"/>
            <a:ext cx="1417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&amp; psychological roots of learning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98292" y="914400"/>
            <a:ext cx="1554480" cy="3474720"/>
          </a:xfrm>
          <a:prstGeom prst="rect">
            <a:avLst/>
          </a:prstGeom>
          <a:solidFill>
            <a:srgbClr val="EDF6F9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98292" y="914400"/>
            <a:ext cx="155448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98292" y="960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171444" y="14630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RL Problem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71444" y="2011680"/>
            <a:ext cx="1417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· Environment · State · Action · Reward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29556" y="914400"/>
            <a:ext cx="1554480" cy="3474720"/>
          </a:xfrm>
          <a:prstGeom prst="rect">
            <a:avLst/>
          </a:prstGeom>
          <a:solidFill>
            <a:srgbClr val="EDF6F9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29556" y="914400"/>
            <a:ext cx="155448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29556" y="960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902708" y="14630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Q-Learning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02708" y="2011680"/>
            <a:ext cx="1417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rule, Q-table walk-through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48628" y="914400"/>
            <a:ext cx="1554480" cy="3474720"/>
          </a:xfrm>
          <a:prstGeom prst="rect">
            <a:avLst/>
          </a:prstGeom>
          <a:solidFill>
            <a:srgbClr val="EDF6F9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548628" y="914400"/>
            <a:ext cx="1554480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48628" y="960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621780" y="14630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Demo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21780" y="2011680"/>
            <a:ext cx="1417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→ Discretized → Linear FA → DQN → CNN-DQN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6459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210312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Organisms Learn</a:t>
            </a:r>
            <a:endParaRPr lang="en-US" sz="3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r"/>
          <p:cNvSpPr>
            <a:spLocks noGrp="1"/>
          </p:cNvSpPr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HeaderLine"/>
          <p:cNvSpPr>
            <a:spLocks noGrp="1"/>
          </p:cNvSpPr>
          <p:nvPr/>
        </p:nvSpPr>
        <p:spPr>
          <a:xfrm>
            <a:off x="0" y="660400"/>
            <a:ext cx="9144000" cy="508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LeftBar"/>
          <p:cNvSpPr>
            <a:spLocks noGrp="1"/>
          </p:cNvSpPr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itle"/>
          <p:cNvSpPr txBox="1">
            <a:spLocks noGrp="1"/>
          </p:cNvSpPr>
          <p:nvPr/>
        </p:nvSpPr>
        <p:spPr>
          <a:xfrm>
            <a:off x="368300" y="88900"/>
            <a:ext cx="84074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Psychology of Learning</a:t>
            </a:r>
          </a:p>
        </p:txBody>
      </p:sp>
      <p:sp>
        <p:nvSpPr>
          <p:cNvPr id="20" name="CardBg0"/>
          <p:cNvSpPr>
            <a:spLocks noGrp="1"/>
          </p:cNvSpPr>
          <p:nvPr/>
        </p:nvSpPr>
        <p:spPr>
          <a:xfrm>
            <a:off x="279400" y="863600"/>
            <a:ext cx="8585200" cy="939800"/>
          </a:xfrm>
          <a:prstGeom prst="rect">
            <a:avLst/>
          </a:prstGeom>
          <a:solidFill>
            <a:srgbClr val="F4F9F7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CardAccent0"/>
          <p:cNvSpPr>
            <a:spLocks noGrp="1"/>
          </p:cNvSpPr>
          <p:nvPr/>
        </p:nvSpPr>
        <p:spPr>
          <a:xfrm>
            <a:off x="279400" y="863600"/>
            <a:ext cx="63500" cy="93980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CardHeader0"/>
          <p:cNvSpPr txBox="1">
            <a:spLocks noGrp="1"/>
          </p:cNvSpPr>
          <p:nvPr/>
        </p:nvSpPr>
        <p:spPr>
          <a:xfrm>
            <a:off x="406400" y="939800"/>
            <a:ext cx="84074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</a:rPr>
              <a:t>Classical Conditioning (Pavlov)</a:t>
            </a:r>
          </a:p>
        </p:txBody>
      </p:sp>
      <p:sp>
        <p:nvSpPr>
          <p:cNvPr id="23" name="CardBody0"/>
          <p:cNvSpPr txBox="1">
            <a:spLocks noGrp="1"/>
          </p:cNvSpPr>
          <p:nvPr/>
        </p:nvSpPr>
        <p:spPr>
          <a:xfrm>
            <a:off x="406400" y="1270000"/>
            <a:ext cx="8407400" cy="482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</a:rPr>
              <a:t>Neutral stimuli paired with rewards become predictive cues — the bell triggers salivation because it reliably signals food to come.</a:t>
            </a:r>
          </a:p>
        </p:txBody>
      </p:sp>
      <p:sp>
        <p:nvSpPr>
          <p:cNvPr id="24" name="CardBg1"/>
          <p:cNvSpPr>
            <a:spLocks noGrp="1"/>
          </p:cNvSpPr>
          <p:nvPr/>
        </p:nvSpPr>
        <p:spPr>
          <a:xfrm>
            <a:off x="279400" y="1930400"/>
            <a:ext cx="8585200" cy="939800"/>
          </a:xfrm>
          <a:prstGeom prst="rect">
            <a:avLst/>
          </a:prstGeom>
          <a:solidFill>
            <a:srgbClr val="F4F9F7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CardAccent1"/>
          <p:cNvSpPr>
            <a:spLocks noGrp="1"/>
          </p:cNvSpPr>
          <p:nvPr/>
        </p:nvSpPr>
        <p:spPr>
          <a:xfrm>
            <a:off x="279400" y="1930400"/>
            <a:ext cx="63500" cy="93980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CardHeader1"/>
          <p:cNvSpPr txBox="1">
            <a:spLocks noGrp="1"/>
          </p:cNvSpPr>
          <p:nvPr/>
        </p:nvSpPr>
        <p:spPr>
          <a:xfrm>
            <a:off x="406400" y="2006600"/>
            <a:ext cx="84074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</a:rPr>
              <a:t>Operant Conditioning (Skinner)</a:t>
            </a:r>
          </a:p>
        </p:txBody>
      </p:sp>
      <p:sp>
        <p:nvSpPr>
          <p:cNvPr id="27" name="CardBody1"/>
          <p:cNvSpPr txBox="1">
            <a:spLocks noGrp="1"/>
          </p:cNvSpPr>
          <p:nvPr/>
        </p:nvSpPr>
        <p:spPr>
          <a:xfrm>
            <a:off x="406400" y="2336800"/>
            <a:ext cx="8407400" cy="482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</a:rPr>
              <a:t>Behaviors are strengthened by reinforcement and weakened by punishment; frequency of action is shaped by its consequences.</a:t>
            </a:r>
          </a:p>
        </p:txBody>
      </p:sp>
      <p:sp>
        <p:nvSpPr>
          <p:cNvPr id="28" name="CardBg2"/>
          <p:cNvSpPr>
            <a:spLocks noGrp="1"/>
          </p:cNvSpPr>
          <p:nvPr/>
        </p:nvSpPr>
        <p:spPr>
          <a:xfrm>
            <a:off x="279400" y="2997200"/>
            <a:ext cx="8585200" cy="939800"/>
          </a:xfrm>
          <a:prstGeom prst="rect">
            <a:avLst/>
          </a:prstGeom>
          <a:solidFill>
            <a:srgbClr val="F4F9F7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CardAccent2"/>
          <p:cNvSpPr>
            <a:spLocks noGrp="1"/>
          </p:cNvSpPr>
          <p:nvPr/>
        </p:nvSpPr>
        <p:spPr>
          <a:xfrm>
            <a:off x="279400" y="2997200"/>
            <a:ext cx="63500" cy="93980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CardHeader2"/>
          <p:cNvSpPr txBox="1">
            <a:spLocks noGrp="1"/>
          </p:cNvSpPr>
          <p:nvPr/>
        </p:nvSpPr>
        <p:spPr>
          <a:xfrm>
            <a:off x="406400" y="3073400"/>
            <a:ext cx="84074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</a:rPr>
              <a:t>Rescorla–Wagner Model</a:t>
            </a:r>
          </a:p>
        </p:txBody>
      </p:sp>
      <p:sp>
        <p:nvSpPr>
          <p:cNvPr id="31" name="CardBody2"/>
          <p:cNvSpPr txBox="1">
            <a:spLocks noGrp="1"/>
          </p:cNvSpPr>
          <p:nvPr/>
        </p:nvSpPr>
        <p:spPr>
          <a:xfrm>
            <a:off x="406400" y="3403600"/>
            <a:ext cx="8407400" cy="482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</a:rPr>
              <a:t>Learning occurs only when outcomes are surprising; the size of the prediction error determines how much the association is updated.</a:t>
            </a:r>
          </a:p>
        </p:txBody>
      </p:sp>
      <p:sp>
        <p:nvSpPr>
          <p:cNvPr id="60" name="CardBg3"/>
          <p:cNvSpPr>
            <a:spLocks noGrp="1"/>
          </p:cNvSpPr>
          <p:nvPr/>
        </p:nvSpPr>
        <p:spPr>
          <a:xfrm>
            <a:off x="279400" y="4064000"/>
            <a:ext cx="8585200" cy="939800"/>
          </a:xfrm>
          <a:prstGeom prst="rect">
            <a:avLst/>
          </a:prstGeom>
          <a:solidFill>
            <a:srgbClr val="F4F9F7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1" name="CardAccent3"/>
          <p:cNvSpPr>
            <a:spLocks noGrp="1"/>
          </p:cNvSpPr>
          <p:nvPr/>
        </p:nvSpPr>
        <p:spPr>
          <a:xfrm>
            <a:off x="279400" y="4064000"/>
            <a:ext cx="63500" cy="93980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2" name="CardHeader3"/>
          <p:cNvSpPr txBox="1">
            <a:spLocks noGrp="1"/>
          </p:cNvSpPr>
          <p:nvPr/>
        </p:nvSpPr>
        <p:spPr>
          <a:xfrm>
            <a:off x="406400" y="4140200"/>
            <a:ext cx="84074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</a:rPr>
              <a:t>Extinction &amp; Spontaneous Recovery</a:t>
            </a:r>
          </a:p>
        </p:txBody>
      </p:sp>
      <p:sp>
        <p:nvSpPr>
          <p:cNvPr id="63" name="CardBody3"/>
          <p:cNvSpPr txBox="1">
            <a:spLocks noGrp="1"/>
          </p:cNvSpPr>
          <p:nvPr/>
        </p:nvSpPr>
        <p:spPr>
          <a:xfrm>
            <a:off x="406400" y="4470400"/>
            <a:ext cx="8407400" cy="482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</a:rPr>
              <a:t>Learned associations weaken without reinforcement and can reappear spontaneously — showing that experience shapes behaviour in ways that are dynamic, not fixed.</a:t>
            </a:r>
          </a:p>
        </p:txBody>
      </p:sp>
    </p:spTree>
    <p:extLst>
      <p:ext uri="{BB962C8B-B14F-4D97-AF65-F5344CB8AC3E}">
        <p14:creationId xmlns:p14="http://schemas.microsoft.com/office/powerpoint/2010/main" val="1682893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/>
      <p:bldP spid="23" grpId="0"/>
      <p:bldP spid="24" grpId="0" animBg="1"/>
      <p:bldP spid="25" grpId="0" animBg="1"/>
      <p:bldP spid="26" grpId="0"/>
      <p:bldP spid="27" grpId="0"/>
      <p:bldP spid="28" grpId="0" animBg="1"/>
      <p:bldP spid="29" grpId="0" animBg="1"/>
      <p:bldP spid="30" grpId="0"/>
      <p:bldP spid="31" grpId="0"/>
      <p:bldP spid="60" grpId="0" animBg="1"/>
      <p:bldP spid="61" grpId="0" animBg="1"/>
      <p:bldP spid="62" grpId="0"/>
      <p:bldP spid="6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r"/>
          <p:cNvSpPr>
            <a:spLocks noGrp="1"/>
          </p:cNvSpPr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HeaderLine"/>
          <p:cNvSpPr>
            <a:spLocks noGrp="1"/>
          </p:cNvSpPr>
          <p:nvPr/>
        </p:nvSpPr>
        <p:spPr>
          <a:xfrm>
            <a:off x="0" y="660400"/>
            <a:ext cx="9144000" cy="508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LeftBar"/>
          <p:cNvSpPr>
            <a:spLocks noGrp="1"/>
          </p:cNvSpPr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itle"/>
          <p:cNvSpPr txBox="1">
            <a:spLocks noGrp="1"/>
          </p:cNvSpPr>
          <p:nvPr/>
        </p:nvSpPr>
        <p:spPr>
          <a:xfrm>
            <a:off x="368300" y="88900"/>
            <a:ext cx="84074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Neuroscience of Reward</a:t>
            </a:r>
          </a:p>
        </p:txBody>
      </p:sp>
      <p:sp>
        <p:nvSpPr>
          <p:cNvPr id="20" name="CardBg0"/>
          <p:cNvSpPr>
            <a:spLocks noGrp="1"/>
          </p:cNvSpPr>
          <p:nvPr/>
        </p:nvSpPr>
        <p:spPr>
          <a:xfrm>
            <a:off x="279400" y="863600"/>
            <a:ext cx="8585200" cy="939800"/>
          </a:xfrm>
          <a:prstGeom prst="rect">
            <a:avLst/>
          </a:prstGeom>
          <a:solidFill>
            <a:srgbClr val="F4F9F7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CardAccent0"/>
          <p:cNvSpPr>
            <a:spLocks noGrp="1"/>
          </p:cNvSpPr>
          <p:nvPr/>
        </p:nvSpPr>
        <p:spPr>
          <a:xfrm>
            <a:off x="279400" y="863600"/>
            <a:ext cx="63500" cy="93980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CardHeader0"/>
          <p:cNvSpPr txBox="1">
            <a:spLocks noGrp="1"/>
          </p:cNvSpPr>
          <p:nvPr/>
        </p:nvSpPr>
        <p:spPr>
          <a:xfrm>
            <a:off x="406400" y="939800"/>
            <a:ext cx="84074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</a:rPr>
              <a:t>Dopamine &amp; the Reward Circuit</a:t>
            </a:r>
          </a:p>
        </p:txBody>
      </p:sp>
      <p:sp>
        <p:nvSpPr>
          <p:cNvPr id="23" name="CardBody0"/>
          <p:cNvSpPr txBox="1">
            <a:spLocks noGrp="1"/>
          </p:cNvSpPr>
          <p:nvPr/>
        </p:nvSpPr>
        <p:spPr>
          <a:xfrm>
            <a:off x="406400" y="1270000"/>
            <a:ext cx="8407400" cy="482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</a:rPr>
              <a:t>Dopaminergic neurons in the VTA fire not to reward itself, but to reward prediction errors — a spike when reward exceeds expectation.</a:t>
            </a:r>
          </a:p>
        </p:txBody>
      </p:sp>
      <p:sp>
        <p:nvSpPr>
          <p:cNvPr id="24" name="CardBg1"/>
          <p:cNvSpPr>
            <a:spLocks noGrp="1"/>
          </p:cNvSpPr>
          <p:nvPr/>
        </p:nvSpPr>
        <p:spPr>
          <a:xfrm>
            <a:off x="279400" y="1930400"/>
            <a:ext cx="8585200" cy="939800"/>
          </a:xfrm>
          <a:prstGeom prst="rect">
            <a:avLst/>
          </a:prstGeom>
          <a:solidFill>
            <a:srgbClr val="F4F9F7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CardAccent1"/>
          <p:cNvSpPr>
            <a:spLocks noGrp="1"/>
          </p:cNvSpPr>
          <p:nvPr/>
        </p:nvSpPr>
        <p:spPr>
          <a:xfrm>
            <a:off x="279400" y="1930400"/>
            <a:ext cx="63500" cy="93980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CardHeader1"/>
          <p:cNvSpPr txBox="1">
            <a:spLocks noGrp="1"/>
          </p:cNvSpPr>
          <p:nvPr/>
        </p:nvSpPr>
        <p:spPr>
          <a:xfrm>
            <a:off x="406400" y="2006600"/>
            <a:ext cx="84074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</a:rPr>
              <a:t>Schultz et al. (1997) — The Pivotal Experiment</a:t>
            </a:r>
          </a:p>
        </p:txBody>
      </p:sp>
      <p:sp>
        <p:nvSpPr>
          <p:cNvPr id="27" name="CardBody1"/>
          <p:cNvSpPr txBox="1">
            <a:spLocks noGrp="1"/>
          </p:cNvSpPr>
          <p:nvPr/>
        </p:nvSpPr>
        <p:spPr>
          <a:xfrm>
            <a:off x="406400" y="2336800"/>
            <a:ext cx="8407400" cy="482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</a:rPr>
              <a:t>Monkey neurons showed activity that shifted from reward delivery to the predictive cue over trials — demonstrating that the brain learns to anticipate, not just react.</a:t>
            </a:r>
          </a:p>
        </p:txBody>
      </p:sp>
      <p:sp>
        <p:nvSpPr>
          <p:cNvPr id="28" name="CardBg2"/>
          <p:cNvSpPr>
            <a:spLocks noGrp="1"/>
          </p:cNvSpPr>
          <p:nvPr/>
        </p:nvSpPr>
        <p:spPr>
          <a:xfrm>
            <a:off x="279400" y="2997200"/>
            <a:ext cx="8585200" cy="939800"/>
          </a:xfrm>
          <a:prstGeom prst="rect">
            <a:avLst/>
          </a:prstGeom>
          <a:solidFill>
            <a:srgbClr val="F4F9F7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CardAccent2"/>
          <p:cNvSpPr>
            <a:spLocks noGrp="1"/>
          </p:cNvSpPr>
          <p:nvPr/>
        </p:nvSpPr>
        <p:spPr>
          <a:xfrm>
            <a:off x="279400" y="2997200"/>
            <a:ext cx="63500" cy="93980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CardHeader2"/>
          <p:cNvSpPr txBox="1">
            <a:spLocks noGrp="1"/>
          </p:cNvSpPr>
          <p:nvPr/>
        </p:nvSpPr>
        <p:spPr>
          <a:xfrm>
            <a:off x="406400" y="3073400"/>
            <a:ext cx="84074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</a:rPr>
              <a:t>Basal Ganglia &amp; Action Selection</a:t>
            </a:r>
          </a:p>
        </p:txBody>
      </p:sp>
      <p:sp>
        <p:nvSpPr>
          <p:cNvPr id="31" name="CardBody2"/>
          <p:cNvSpPr txBox="1">
            <a:spLocks noGrp="1"/>
          </p:cNvSpPr>
          <p:nvPr/>
        </p:nvSpPr>
        <p:spPr>
          <a:xfrm>
            <a:off x="406400" y="3403600"/>
            <a:ext cx="8407400" cy="482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</a:rPr>
              <a:t>The striatum tracks how rewarding actions have been; dopamine signals strengthen or weaken synaptic connections, gradually shaping which behaviours the animal repeats.</a:t>
            </a:r>
          </a:p>
        </p:txBody>
      </p:sp>
      <p:sp>
        <p:nvSpPr>
          <p:cNvPr id="60" name="CardBg3"/>
          <p:cNvSpPr>
            <a:spLocks noGrp="1"/>
          </p:cNvSpPr>
          <p:nvPr/>
        </p:nvSpPr>
        <p:spPr>
          <a:xfrm>
            <a:off x="279400" y="4064000"/>
            <a:ext cx="8585200" cy="939800"/>
          </a:xfrm>
          <a:prstGeom prst="rect">
            <a:avLst/>
          </a:prstGeom>
          <a:solidFill>
            <a:srgbClr val="F4F9F7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1" name="CardAccent3"/>
          <p:cNvSpPr>
            <a:spLocks noGrp="1"/>
          </p:cNvSpPr>
          <p:nvPr/>
        </p:nvSpPr>
        <p:spPr>
          <a:xfrm>
            <a:off x="279400" y="4064000"/>
            <a:ext cx="63500" cy="93980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2" name="CardHeader3"/>
          <p:cNvSpPr txBox="1">
            <a:spLocks noGrp="1"/>
          </p:cNvSpPr>
          <p:nvPr/>
        </p:nvSpPr>
        <p:spPr>
          <a:xfrm>
            <a:off x="406400" y="4140200"/>
            <a:ext cx="84074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</a:rPr>
              <a:t>Prefrontal Cortex &amp; Goal-Directed Behaviour</a:t>
            </a:r>
          </a:p>
        </p:txBody>
      </p:sp>
      <p:sp>
        <p:nvSpPr>
          <p:cNvPr id="63" name="CardBody3"/>
          <p:cNvSpPr txBox="1">
            <a:spLocks noGrp="1"/>
          </p:cNvSpPr>
          <p:nvPr/>
        </p:nvSpPr>
        <p:spPr>
          <a:xfrm>
            <a:off x="406400" y="4470400"/>
            <a:ext cx="8407400" cy="482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</a:rPr>
              <a:t>The prefrontal cortex integrates past reward experience with forward-looking planning, allowing animals to pursue goals flexibly rather than rely on fixed stimulus-response habits.</a:t>
            </a:r>
          </a:p>
        </p:txBody>
      </p:sp>
    </p:spTree>
    <p:extLst>
      <p:ext uri="{BB962C8B-B14F-4D97-AF65-F5344CB8AC3E}">
        <p14:creationId xmlns:p14="http://schemas.microsoft.com/office/powerpoint/2010/main" val="31386370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/>
      <p:bldP spid="23" grpId="0"/>
      <p:bldP spid="24" grpId="0" animBg="1"/>
      <p:bldP spid="25" grpId="0" animBg="1"/>
      <p:bldP spid="26" grpId="0"/>
      <p:bldP spid="27" grpId="0"/>
      <p:bldP spid="28" grpId="0" animBg="1"/>
      <p:bldP spid="29" grpId="0" animBg="1"/>
      <p:bldP spid="30" grpId="0"/>
      <p:bldP spid="31" grpId="0"/>
      <p:bldP spid="60" grpId="0" animBg="1"/>
      <p:bldP spid="61" grpId="0" animBg="1"/>
      <p:bldP spid="62" grpId="0"/>
      <p:bldP spid="6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by Trial and Error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9400" y="982980"/>
            <a:ext cx="4394200" cy="1016000"/>
          </a:xfrm>
          <a:prstGeom prst="rect">
            <a:avLst/>
          </a:prstGeom>
          <a:solidFill>
            <a:srgbClr val="EDF6F9"/>
          </a:solidFill>
          <a:ln w="12700">
            <a:solidFill>
              <a:srgbClr val="D0DDE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LeftLabel"/>
          <p:cNvSpPr txBox="1">
            <a:spLocks noGrp="1"/>
          </p:cNvSpPr>
          <p:nvPr/>
        </p:nvSpPr>
        <p:spPr>
          <a:xfrm>
            <a:off x="279400" y="736600"/>
            <a:ext cx="4394200" cy="177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000" b="1" spc="200" dirty="0">
                <a:solidFill>
                  <a:srgbClr val="52B788"/>
                </a:solidFill>
                <a:latin typeface="Calibri" pitchFamily="34" charset="0"/>
              </a:rPr>
              <a:t>KEY FOUNDATIONS</a:t>
            </a:r>
          </a:p>
        </p:txBody>
      </p:sp>
      <p:sp>
        <p:nvSpPr>
          <p:cNvPr id="6" name="Shape 4"/>
          <p:cNvSpPr/>
          <p:nvPr/>
        </p:nvSpPr>
        <p:spPr>
          <a:xfrm>
            <a:off x="279400" y="982980"/>
            <a:ext cx="63500" cy="101600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6400" y="1059180"/>
            <a:ext cx="4203700" cy="279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Thorndike's Law of Effect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4500" y="1376680"/>
            <a:ext cx="4127500" cy="55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Behaviors followed by satisfying consequences become more likely to be repeated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9400" y="2125980"/>
            <a:ext cx="4394200" cy="1016000"/>
          </a:xfrm>
          <a:prstGeom prst="rect">
            <a:avLst/>
          </a:prstGeom>
          <a:solidFill>
            <a:srgbClr val="EDF6F9"/>
          </a:solidFill>
          <a:ln w="12700">
            <a:solidFill>
              <a:srgbClr val="D0DDE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9400" y="2125980"/>
            <a:ext cx="63500" cy="101600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06400" y="2202180"/>
            <a:ext cx="4203700" cy="279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Sutton &amp; Barto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4500" y="2519680"/>
            <a:ext cx="4127500" cy="55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"Reinforcement learning, more than any other form of machine learning, is directly inspired by how the nervous system works"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914400"/>
            <a:ext cx="3746500" cy="3937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18100" y="990600"/>
            <a:ext cx="35687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</a:rPr>
              <a:t>From Brain to Algorithm</a:t>
            </a:r>
          </a:p>
        </p:txBody>
      </p:sp>
      <p:sp>
        <p:nvSpPr>
          <p:cNvPr id="23" name="Text 21"/>
          <p:cNvSpPr/>
          <p:nvPr/>
        </p:nvSpPr>
        <p:spPr>
          <a:xfrm>
            <a:off x="5118100" y="1346200"/>
            <a:ext cx="3568700" cy="276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</a:rPr>
              <a:t>Psychology</a:t>
            </a:r>
            <a:r>
              <a:rPr lang="en-US" sz="1100" dirty="0">
                <a:solidFill>
                  <a:srgbClr val="A8D8C8"/>
                </a:solidFill>
                <a:latin typeface="Calibri" pitchFamily="34" charset="0"/>
              </a:rPr>
              <a:t>  →  RL</a:t>
            </a: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</a:rPr>
              <a:t>Rescorla-Wagner prediction error = TD error</a:t>
            </a: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</a:rPr>
              <a:t>Law of Effect = reward-maximising policy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</a:rPr>
              <a:t>Neuroscience</a:t>
            </a:r>
            <a:r>
              <a:rPr lang="en-US" sz="1100" dirty="0">
                <a:solidFill>
                  <a:srgbClr val="A8D8C8"/>
                </a:solidFill>
                <a:latin typeface="Calibri" pitchFamily="34" charset="0"/>
              </a:rPr>
              <a:t>  →  RL</a:t>
            </a: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</a:rPr>
              <a:t>Dopamine PE signal = TD(0) update (Schultz 1997)</a:t>
            </a: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</a:rPr>
              <a:t>Striatum / basal ganglia = value function V(s)</a:t>
            </a: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</a:rPr>
              <a:t>PFC model-based control = planning / lookahead</a:t>
            </a:r>
          </a:p>
        </p:txBody>
      </p:sp>
      <p:sp>
        <p:nvSpPr>
          <p:cNvPr id="24" name="Shape 22"/>
          <p:cNvSpPr/>
          <p:nvPr/>
        </p:nvSpPr>
        <p:spPr>
          <a:xfrm>
            <a:off x="5029200" y="4191000"/>
            <a:ext cx="3746500" cy="508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18100" y="4292600"/>
            <a:ext cx="3517900" cy="50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2B788"/>
                </a:solidFill>
                <a:latin typeface="Calibri" pitchFamily="34" charset="0"/>
              </a:rPr>
              <a:t>Sutton &amp; Barto, Ch. 1 — "The idea that we learn by interacting with our environment..."</a:t>
            </a:r>
          </a:p>
        </p:txBody>
      </p:sp>
      <p:sp>
        <p:nvSpPr>
          <p:cNvPr id="71" name="LeftSummary"/>
          <p:cNvSpPr txBox="1">
            <a:spLocks noGrp="1"/>
          </p:cNvSpPr>
          <p:nvPr/>
        </p:nvSpPr>
        <p:spPr>
          <a:xfrm>
            <a:off x="279400" y="3284220"/>
            <a:ext cx="4394200" cy="152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100" b="1" dirty="0">
                <a:solidFill>
                  <a:srgbClr val="1A7A6E"/>
                </a:solidFill>
                <a:latin typeface="Calibri" pitchFamily="34" charset="0"/>
              </a:rPr>
              <a:t>The Formal RL Framework</a:t>
            </a: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</a:rPr>
              <a:t>Agent, environment, state, action, reward</a:t>
            </a: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</a:rPr>
              <a:t>Maximise cumulative discounted reward</a:t>
            </a: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</a:rPr>
              <a:t>No teacher — only experience and feedback</a:t>
            </a:r>
          </a:p>
        </p:txBody>
      </p:sp>
    </p:spTree>
    <p:extLst>
      <p:ext uri="{BB962C8B-B14F-4D97-AF65-F5344CB8AC3E}">
        <p14:creationId xmlns:p14="http://schemas.microsoft.com/office/powerpoint/2010/main" val="2114293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0" grpId="0"/>
      <p:bldP spid="6" grpId="0" animBg="1"/>
      <p:bldP spid="7" grpId="0" animBg="1"/>
      <p:bldP spid="8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7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6459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210312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Reinforcement Learning Problem</a:t>
            </a:r>
            <a:endParaRPr lang="en-US" sz="3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Agent–Environment Interface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286000" cy="137160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0" y="1371600"/>
            <a:ext cx="2286000" cy="13716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0" y="13716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0" y="1737360"/>
            <a:ext cx="3657600" cy="0"/>
          </a:xfrm>
          <a:prstGeom prst="line">
            <a:avLst/>
          </a:prstGeom>
          <a:noFill/>
          <a:ln w="317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79820" y="157581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49040" y="14173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aₜ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34640" y="2468880"/>
            <a:ext cx="3566160" cy="0"/>
          </a:xfrm>
          <a:prstGeom prst="line">
            <a:avLst/>
          </a:prstGeom>
          <a:noFill/>
          <a:ln w="3175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36520" y="229971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5603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sₜ₊₁  +  Reward rₜ₊₁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60264" y="3291840"/>
            <a:ext cx="1600200" cy="1508760"/>
          </a:xfrm>
          <a:prstGeom prst="rect">
            <a:avLst/>
          </a:prstGeom>
          <a:solidFill>
            <a:srgbClr val="EDF6F9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060264" y="3291840"/>
            <a:ext cx="1600200" cy="54864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124272" y="33649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 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24272" y="3730752"/>
            <a:ext cx="14630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description of the environment the agent can observe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97624" y="3291840"/>
            <a:ext cx="1600200" cy="1508760"/>
          </a:xfrm>
          <a:prstGeom prst="rect">
            <a:avLst/>
          </a:prstGeom>
          <a:solidFill>
            <a:srgbClr val="EDF6F9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797624" y="3291840"/>
            <a:ext cx="1600200" cy="5486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61632" y="33649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61632" y="3659313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choice the agent makes at each timestep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34984" y="3291840"/>
            <a:ext cx="1600200" cy="1508760"/>
          </a:xfrm>
          <a:prstGeom prst="rect">
            <a:avLst/>
          </a:prstGeom>
          <a:solidFill>
            <a:srgbClr val="EDF6F9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534984" y="3291840"/>
            <a:ext cx="16002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598992" y="33649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 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98992" y="3730752"/>
            <a:ext cx="1463040" cy="3366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scalar signal: how good was that action?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97624" y="4012495"/>
            <a:ext cx="16002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861632" y="4085647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 π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61632" y="4401399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strategy: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→ a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Markov Decision Process (MDP)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920240" cy="100584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31720" y="1005840"/>
            <a:ext cx="1920240" cy="10058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331720" y="10058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005840"/>
            <a:ext cx="192024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10058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P(s'|s,a)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46520" y="1005840"/>
            <a:ext cx="1920240" cy="10058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46520" y="10058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R(s,a,s')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94560" y="1508760"/>
            <a:ext cx="13716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2141220" y="1347216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▶</a:t>
            </a:r>
          </a:p>
        </p:txBody>
      </p:sp>
      <p:sp>
        <p:nvSpPr>
          <p:cNvPr id="15" name="Shape 13"/>
          <p:cNvSpPr/>
          <p:nvPr/>
        </p:nvSpPr>
        <p:spPr>
          <a:xfrm>
            <a:off x="4251960" y="1508760"/>
            <a:ext cx="13716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198620" y="1347216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▶</a:t>
            </a:r>
          </a:p>
        </p:txBody>
      </p:sp>
      <p:sp>
        <p:nvSpPr>
          <p:cNvPr id="17" name="Shape 15"/>
          <p:cNvSpPr/>
          <p:nvPr/>
        </p:nvSpPr>
        <p:spPr>
          <a:xfrm>
            <a:off x="6309360" y="1508760"/>
            <a:ext cx="13716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56020" y="1347216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▶</a:t>
            </a:r>
          </a:p>
        </p:txBody>
      </p:sp>
      <p:sp>
        <p:nvSpPr>
          <p:cNvPr id="19" name="Shape 17"/>
          <p:cNvSpPr/>
          <p:nvPr/>
        </p:nvSpPr>
        <p:spPr>
          <a:xfrm>
            <a:off x="274320" y="2286000"/>
            <a:ext cx="859536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234086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Property:  P(sₜ₊₁ | sₜ, aₜ, sₜ₋₁, ...) = P(sₜ₊₁ | sₜ, aₜ)   — the future depends only on the present, not the past.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154680"/>
            <a:ext cx="4160520" cy="1691640"/>
          </a:xfrm>
          <a:prstGeom prst="rect">
            <a:avLst/>
          </a:prstGeom>
          <a:solidFill>
            <a:srgbClr val="EDF6F9"/>
          </a:solidFill>
          <a:ln w="12700">
            <a:solidFill>
              <a:srgbClr val="D0DDE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3154680"/>
            <a:ext cx="64008" cy="1691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322783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Reward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" y="3538728"/>
            <a:ext cx="3904488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when goal reached, 0 otherwise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define, hard to learn from — agent rarely gets a signal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games (e.g., win/lose at end of episode)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154680"/>
            <a:ext cx="4160520" cy="1691640"/>
          </a:xfrm>
          <a:prstGeom prst="rect">
            <a:avLst/>
          </a:prstGeom>
          <a:solidFill>
            <a:srgbClr val="EDF6F9"/>
          </a:solidFill>
          <a:ln w="12700">
            <a:solidFill>
              <a:srgbClr val="D0DDE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3154680"/>
            <a:ext cx="64008" cy="16916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0600" y="322783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/ Shaped Reward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28032" y="3538728"/>
            <a:ext cx="3904488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 distance to goal, penalize holes, reward water conservation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learning — more frequent feedback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agent exploits the shaping and ignores the true goal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6459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210312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Q-Learning</a:t>
            </a:r>
            <a:endParaRPr lang="en-US" sz="3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Q-Value?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Q(s, a)  =  Expected cumulative discounted reward starting from state s, taking action a, then following policy 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965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Q-Table  (states × actions)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274320" y="2331720"/>
          <a:ext cx="4114800" cy="256032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100" b="1" dirty="0">
                        <a:solidFill>
                          <a:srgbClr val="1A7A6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434840" y="2514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Greedy action: highest Q-value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34840" y="2926080"/>
            <a:ext cx="4434840" cy="1463040"/>
          </a:xfrm>
          <a:prstGeom prst="rect">
            <a:avLst/>
          </a:prstGeom>
          <a:solidFill>
            <a:srgbClr val="EDF6F9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4434840" y="2926080"/>
            <a:ext cx="64008" cy="1463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0" y="299923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ε-Greedy Exploration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0" y="3346704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probability ε: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Explore: pick a random action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probability 1-ε: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Exploit: pick argmax Q(s, a)</a:t>
            </a:r>
            <a:endParaRPr lang="en-US" sz="1100" dirty="0"/>
          </a:p>
        </p:txBody>
      </p:sp>
      <p:sp>
        <p:nvSpPr>
          <p:cNvPr id="80" name="BioAccentBar"/>
          <p:cNvSpPr>
            <a:spLocks noGrp="1"/>
          </p:cNvSpPr>
          <p:nvPr/>
        </p:nvSpPr>
        <p:spPr>
          <a:xfrm>
            <a:off x="279400" y="4470400"/>
            <a:ext cx="63500" cy="55880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81" name="BioBg"/>
          <p:cNvSpPr>
            <a:spLocks noGrp="1"/>
          </p:cNvSpPr>
          <p:nvPr/>
        </p:nvSpPr>
        <p:spPr>
          <a:xfrm>
            <a:off x="279400" y="4470400"/>
            <a:ext cx="8585200" cy="558800"/>
          </a:xfrm>
          <a:prstGeom prst="rect">
            <a:avLst/>
          </a:prstGeom>
          <a:solidFill>
            <a:srgbClr val="EAF4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82" name="BioCallout"/>
          <p:cNvSpPr txBox="1">
            <a:spLocks noGrp="1"/>
          </p:cNvSpPr>
          <p:nvPr/>
        </p:nvSpPr>
        <p:spPr>
          <a:xfrm>
            <a:off x="406400" y="4521200"/>
            <a:ext cx="8407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100" b="1" dirty="0">
                <a:solidFill>
                  <a:srgbClr val="1A7A6E"/>
                </a:solidFill>
                <a:latin typeface="Calibri" pitchFamily="34" charset="0"/>
              </a:rPr>
              <a:t>Back to biology: </a:t>
            </a:r>
            <a:r>
              <a:rPr lang="en-US" sz="1100" dirty="0">
                <a:solidFill>
                  <a:srgbClr val="1C2833"/>
                </a:solidFill>
                <a:latin typeface="Calibri" pitchFamily="34" charset="0"/>
              </a:rPr>
              <a:t>Q(s, a) formalises what the </a:t>
            </a:r>
            <a:r>
              <a:rPr lang="en-US" sz="1100" b="1" dirty="0">
                <a:solidFill>
                  <a:srgbClr val="1C2833"/>
                </a:solidFill>
                <a:latin typeface="Calibri" pitchFamily="34" charset="0"/>
              </a:rPr>
              <a:t>striatum</a:t>
            </a:r>
            <a:r>
              <a:rPr lang="en-US" sz="1100" dirty="0">
                <a:solidFill>
                  <a:srgbClr val="1C2833"/>
                </a:solidFill>
                <a:latin typeface="Calibri" pitchFamily="34" charset="0"/>
              </a:rPr>
              <a:t> computes implicitly: a running estimate of how valuable a given action is from a given state, built up through experience — exactly Skinner’s operant logic, made numerical.</a:t>
            </a:r>
          </a:p>
        </p:txBody>
      </p:sp>
    </p:spTree>
    <p:extLst>
      <p:ext uri="{BB962C8B-B14F-4D97-AF65-F5344CB8AC3E}">
        <p14:creationId xmlns:p14="http://schemas.microsoft.com/office/powerpoint/2010/main" val="11264830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8" grpId="0" animBg="1"/>
      <p:bldP spid="12" grpId="0" animBg="1"/>
      <p:bldP spid="13" grpId="0" animBg="1"/>
      <p:bldP spid="80" grpId="0" animBg="1"/>
      <p:bldP spid="81" grpId="0" animBg="1"/>
      <p:bldP spid="8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Q-Learning Update Rule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Q(s, a)  ←  Q(s, a)  +  α [ r  +  γ · max Q(s', a')  −  Q(s, a) 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2148840"/>
            <a:ext cx="2743200" cy="1024128"/>
          </a:xfrm>
          <a:prstGeom prst="rect">
            <a:avLst/>
          </a:prstGeom>
          <a:solidFill>
            <a:srgbClr val="EDF6F9"/>
          </a:solidFill>
          <a:ln w="12700">
            <a:solidFill>
              <a:srgbClr val="D0DDE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2148840"/>
            <a:ext cx="64008" cy="102412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22219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 —  Learning Rate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2532888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we update on each step.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α → slow but stable.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α → fast but noisy.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148840"/>
            <a:ext cx="2743200" cy="1024128"/>
          </a:xfrm>
          <a:prstGeom prst="rect">
            <a:avLst/>
          </a:prstGeom>
          <a:solidFill>
            <a:srgbClr val="EDF6F9"/>
          </a:solidFill>
          <a:ln w="12700">
            <a:solidFill>
              <a:srgbClr val="D0DDE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2148840"/>
            <a:ext cx="64008" cy="10241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37560" y="22219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—  Immediate Reward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64992" y="2532888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reward signal received after taking action a in state 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148840"/>
            <a:ext cx="2743200" cy="1024128"/>
          </a:xfrm>
          <a:prstGeom prst="rect">
            <a:avLst/>
          </a:prstGeom>
          <a:solidFill>
            <a:srgbClr val="EDF6F9"/>
          </a:solidFill>
          <a:ln w="12700">
            <a:solidFill>
              <a:srgbClr val="D0DDE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2148840"/>
            <a:ext cx="64008" cy="10241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63640" y="22219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 —  Discount Factor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91072" y="2532888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we value future rewards.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γ=0 → myopic; γ≈1 → far-sighted.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291840"/>
            <a:ext cx="4160520" cy="1691640"/>
          </a:xfrm>
          <a:prstGeom prst="rect">
            <a:avLst/>
          </a:prstGeom>
          <a:solidFill>
            <a:srgbClr val="EDF6F9"/>
          </a:solidFill>
          <a:ln w="12700">
            <a:solidFill>
              <a:srgbClr val="D0DDE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291840"/>
            <a:ext cx="64008" cy="16916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336499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Q(s',a')  —  Best Future Q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8912" y="3675888"/>
            <a:ext cx="3904488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Bootstrapped estimate of the value of the next state (the 'target').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291840"/>
            <a:ext cx="4160520" cy="1691640"/>
          </a:xfrm>
          <a:prstGeom prst="rect">
            <a:avLst/>
          </a:prstGeom>
          <a:solidFill>
            <a:srgbClr val="EDF6F9"/>
          </a:solidFill>
          <a:ln w="12700">
            <a:solidFill>
              <a:srgbClr val="D0DDE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63440" y="3291840"/>
            <a:ext cx="64008" cy="16916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0600" y="336499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Error  —  Target − Current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28032" y="3675888"/>
            <a:ext cx="3904488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</a:rPr>
              <a:t>r + γ max Q(s’,a’) − Q(s,a) — the correction signal; drive this to zero</a:t>
            </a:r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A7A6E"/>
                </a:solidFill>
                <a:latin typeface="Calibri" pitchFamily="34" charset="0"/>
              </a:rPr>
              <a:t>Neuroscience: </a:t>
            </a:r>
            <a:r>
              <a:rPr lang="en-US" sz="1100" dirty="0">
                <a:solidFill>
                  <a:srgbClr val="1C2833"/>
                </a:solidFill>
                <a:latin typeface="Calibri" pitchFamily="34" charset="0"/>
              </a:rPr>
              <a:t>dopamine neurons in the VTA fire proportionally to this error — a burst when reward exceeds expectation, a dip when it falls short (Schultz et al., 1997)</a:t>
            </a:r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A7A6E"/>
                </a:solidFill>
                <a:latin typeface="Calibri" pitchFamily="34" charset="0"/>
              </a:rPr>
              <a:t>Psychology: </a:t>
            </a:r>
            <a:r>
              <a:rPr lang="en-US" sz="1100" dirty="0">
                <a:solidFill>
                  <a:srgbClr val="1C2833"/>
                </a:solidFill>
                <a:latin typeface="Calibri" pitchFamily="34" charset="0"/>
              </a:rPr>
              <a:t>the same logic as Rescorla–Wagner — associations only update when an outcome is surprising</a:t>
            </a:r>
          </a:p>
        </p:txBody>
      </p:sp>
    </p:spTree>
    <p:extLst>
      <p:ext uri="{BB962C8B-B14F-4D97-AF65-F5344CB8AC3E}">
        <p14:creationId xmlns:p14="http://schemas.microsoft.com/office/powerpoint/2010/main" val="30198640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One Q-Table Update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502920"/>
          </a:xfrm>
          <a:prstGeom prst="rect">
            <a:avLst/>
          </a:prstGeom>
          <a:solidFill>
            <a:srgbClr val="EDF6F9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 α = 0.1,  γ = 0.9,  Current state s = (2,3),  Action a = Right,  Q(s,a) = 0.30,  Reward r = −0.01,  Next state s' = (2,4),  max Q(s',a') = 0.80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685800" cy="71323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600200"/>
            <a:ext cx="685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05840" y="1600200"/>
            <a:ext cx="7818120" cy="713232"/>
          </a:xfrm>
          <a:prstGeom prst="rect">
            <a:avLst/>
          </a:prstGeom>
          <a:solidFill>
            <a:srgbClr val="EDF6F9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163677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TD Target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192024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= r + γ · max Q(s',a') = −0.01 + 0.9 × 0.80 = 0.71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41448"/>
            <a:ext cx="685800" cy="71323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2441448"/>
            <a:ext cx="685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2441448"/>
            <a:ext cx="7818120" cy="713232"/>
          </a:xfrm>
          <a:prstGeom prst="rect">
            <a:avLst/>
          </a:prstGeom>
          <a:solidFill>
            <a:srgbClr val="EDF6F9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7280" y="247802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TD Error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276148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Target − Q(s,a) = 0.71 − 0.30 = 0.41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282696"/>
            <a:ext cx="685800" cy="71323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282696"/>
            <a:ext cx="685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05840" y="3282696"/>
            <a:ext cx="7818120" cy="713232"/>
          </a:xfrm>
          <a:prstGeom prst="rect">
            <a:avLst/>
          </a:prstGeom>
          <a:solidFill>
            <a:srgbClr val="EDF6F9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97280" y="331927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Update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3602736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Q(s,a) ← 0.30 + 0.1 × 0.41 = 0.341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123944"/>
            <a:ext cx="685800" cy="71323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4123944"/>
            <a:ext cx="685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05840" y="4123944"/>
            <a:ext cx="7818120" cy="713232"/>
          </a:xfrm>
          <a:prstGeom prst="rect">
            <a:avLst/>
          </a:prstGeom>
          <a:solidFill>
            <a:srgbClr val="EDF6F9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97280" y="41605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work?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4443984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estimate (0.30) was too low. We nudge it upward toward the target. Repeated across millions of steps → Q converges to Q*.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7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6459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210312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Demo: Rosie's World</a:t>
            </a:r>
            <a:endParaRPr lang="en-US" sz="3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Overview: Growing Complexity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1828800"/>
          </a:xfrm>
          <a:prstGeom prst="rect">
            <a:avLst/>
          </a:prstGeom>
          <a:solidFill>
            <a:srgbClr val="EDF6F9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743200" cy="45720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332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Discrete Grid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904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10×10 grid, (x,y)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8013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Tabular Q-Learning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11226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dim: 2D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743200" cy="1828800"/>
          </a:xfrm>
          <a:prstGeom prst="rect">
            <a:avLst/>
          </a:prstGeom>
          <a:solidFill>
            <a:srgbClr val="EDF6F9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74320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10332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Continuous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14904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Continuous 2D + velocity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18013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State Discretization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211226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dim: 4D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960120"/>
            <a:ext cx="2743200" cy="1828800"/>
          </a:xfrm>
          <a:prstGeom prst="rect">
            <a:avLst/>
          </a:prstGeom>
          <a:solidFill>
            <a:srgbClr val="EDF6F9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26480" y="960120"/>
            <a:ext cx="2743200" cy="4572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0" y="10332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Linear FA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14904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Continuous, tile coding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18013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Tile Coding SARSA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211226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dim: 4D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767376" y="2971800"/>
            <a:ext cx="2743200" cy="1828800"/>
          </a:xfrm>
          <a:prstGeom prst="rect">
            <a:avLst/>
          </a:prstGeom>
          <a:solidFill>
            <a:srgbClr val="EDF6F9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767376" y="2971800"/>
            <a:ext cx="274320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858816" y="30449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Momentum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858816" y="35021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+ Water Mass variable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58816" y="38130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Tabular / DQN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858816" y="412394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dim: 5D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93456" y="2971800"/>
            <a:ext cx="2743200" cy="1828800"/>
          </a:xfrm>
          <a:prstGeom prst="rect">
            <a:avLst/>
          </a:prstGeom>
          <a:solidFill>
            <a:srgbClr val="EDF6F9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93456" y="2971800"/>
            <a:ext cx="2743200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84896" y="30449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Random Holes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84896" y="35021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+ Randomized obstacles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84896" y="38130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DQN (MLP)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84896" y="412394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dim: 7D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4919472"/>
            <a:ext cx="8595360" cy="0"/>
          </a:xfrm>
          <a:prstGeom prst="line">
            <a:avLst/>
          </a:prstGeom>
          <a:noFill/>
          <a:ln w="1905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Increasing state-space complexity — tabular methods break down →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Tabular Methods Break Down → DQN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566928"/>
          </a:xfrm>
          <a:prstGeom prst="rect">
            <a:avLst/>
          </a:prstGeom>
          <a:solidFill>
            <a:srgbClr val="EDF6F9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10058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7 continuous state dimensions and random holes, the Q-table would need ~10⁷+ entries. Most are never visited. The table cannot generalize.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755648"/>
            <a:ext cx="1508760" cy="71323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755648"/>
            <a:ext cx="1508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 s  (7D vector)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24228" y="1920240"/>
            <a:ext cx="256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→</a:t>
            </a:r>
          </a:p>
        </p:txBody>
      </p:sp>
      <p:sp>
        <p:nvSpPr>
          <p:cNvPr id="10" name="Shape 8"/>
          <p:cNvSpPr/>
          <p:nvPr/>
        </p:nvSpPr>
        <p:spPr>
          <a:xfrm>
            <a:off x="2103120" y="1755648"/>
            <a:ext cx="1508760" cy="7132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03120" y="1755648"/>
            <a:ext cx="1508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Network  Q(s,·; θ)  (MLP)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15868" y="1920240"/>
            <a:ext cx="256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→</a:t>
            </a:r>
          </a:p>
        </p:txBody>
      </p:sp>
      <p:sp>
        <p:nvSpPr>
          <p:cNvPr id="13" name="Shape 11"/>
          <p:cNvSpPr/>
          <p:nvPr/>
        </p:nvSpPr>
        <p:spPr>
          <a:xfrm>
            <a:off x="3794760" y="1755648"/>
            <a:ext cx="1508760" cy="7132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94760" y="1755648"/>
            <a:ext cx="1508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Q-values for all actions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207508" y="1920240"/>
            <a:ext cx="256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→</a:t>
            </a:r>
          </a:p>
        </p:txBody>
      </p:sp>
      <p:sp>
        <p:nvSpPr>
          <p:cNvPr id="16" name="Shape 14"/>
          <p:cNvSpPr/>
          <p:nvPr/>
        </p:nvSpPr>
        <p:spPr>
          <a:xfrm>
            <a:off x="5486400" y="1755648"/>
            <a:ext cx="1508760" cy="7132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0" y="1755648"/>
            <a:ext cx="1508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Buffer  +  Target Network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99148" y="1920240"/>
            <a:ext cx="256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→</a:t>
            </a:r>
          </a:p>
        </p:txBody>
      </p:sp>
      <p:sp>
        <p:nvSpPr>
          <p:cNvPr id="19" name="Shape 17"/>
          <p:cNvSpPr/>
          <p:nvPr/>
        </p:nvSpPr>
        <p:spPr>
          <a:xfrm>
            <a:off x="7178040" y="1755648"/>
            <a:ext cx="1508760" cy="7132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78040" y="1755648"/>
            <a:ext cx="1508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Training via SGD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697480"/>
            <a:ext cx="859536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27432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Loss(θ) = 𝔼 [ ( r + γ · max Q(s', a'; θ⁻) − Q(s, a; θ) )² ]   where  θ⁻  = target network parameters (updated periodically)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547872"/>
            <a:ext cx="4160520" cy="1417320"/>
          </a:xfrm>
          <a:prstGeom prst="rect">
            <a:avLst/>
          </a:prstGeom>
          <a:solidFill>
            <a:srgbClr val="EDF6F9"/>
          </a:solidFill>
          <a:ln w="12700">
            <a:solidFill>
              <a:srgbClr val="D0DDE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3547872"/>
            <a:ext cx="64008" cy="141732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362102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Replay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8912" y="3931920"/>
            <a:ext cx="3904488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transitions (s, a, r, s') in a circular buffer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random mini-batches → breaks temporal correlations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data efficiency and stability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3547872"/>
            <a:ext cx="4160520" cy="1417320"/>
          </a:xfrm>
          <a:prstGeom prst="rect">
            <a:avLst/>
          </a:prstGeom>
          <a:solidFill>
            <a:srgbClr val="EDF6F9"/>
          </a:solidFill>
          <a:ln w="12700">
            <a:solidFill>
              <a:srgbClr val="D0DDE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63440" y="3547872"/>
            <a:ext cx="64008" cy="14173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00600" y="362102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Network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28032" y="3931920"/>
            <a:ext cx="3904488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network θ⁻ for computing the TD target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every N steps (not every gradient step)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chasing a moving target → stable training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8503920" cy="685800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64008" cy="6858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7101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is grounded in biology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Trial-and-error learning and dopaminergic reward signals in the brain inspired modern RL theory (Sutton &amp; Barto).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993392"/>
            <a:ext cx="8503920" cy="685800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993392"/>
            <a:ext cx="64008" cy="6858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0299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MDP is the foundation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29514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Action, Reward, Transition — every RL problem maps onto this structure.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752344"/>
            <a:ext cx="8503920" cy="685800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752344"/>
            <a:ext cx="64008" cy="6858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788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is powerful but limited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054096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Q-learning converges to Q* but can't scale to high-dimensional or continuous spaces.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511296"/>
            <a:ext cx="8503920" cy="685800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3511296"/>
            <a:ext cx="64008" cy="6858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5478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approximation generalizes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81304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FA (tile coding) and neural networks (DQN) let us handle complex environments by generalizing across states.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4270248"/>
            <a:ext cx="8503920" cy="685800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4270248"/>
            <a:ext cx="64008" cy="6858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30682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tricks matter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buffers and target networks are what make deep RL stable enough to actually work.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 [1777231272969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4EEE46A-8A99-4410-ADC4-5C637DD1AE0D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8af07e07-7f8e-4935-ac68-1168085d8e7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1271</TotalTime>
  <Words>1638</Words>
  <Application>Microsoft Office PowerPoint</Application>
  <PresentationFormat>On-screen Show (16:9)</PresentationFormat>
  <Paragraphs>235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 [1777231272969]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Reinforcement Learning</dc:title>
  <dc:subject>PptxGenJS Presentation</dc:subject>
  <dc:creator>PptxGenJS</dc:creator>
  <cp:lastModifiedBy>Haughn, Kevin</cp:lastModifiedBy>
  <cp:revision>9</cp:revision>
  <dcterms:created xsi:type="dcterms:W3CDTF">2026-04-26T16:44:17Z</dcterms:created>
  <dcterms:modified xsi:type="dcterms:W3CDTF">2026-04-27T13:58:36Z</dcterms:modified>
</cp:coreProperties>
</file>